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3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appe4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Mappe4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cobStank\Documents\Unterrichtsmaterialien\Unterrichtsmaterialien\04.%20SQL\Abschlussprojekt\Yr%20Amount%20to%20Income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Mappe4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Anzahl Kredite pro alter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age_distribution!$B$1</c:f>
              <c:strCache>
                <c:ptCount val="1"/>
                <c:pt idx="0">
                  <c:v>Anzahl Kredite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cat>
            <c:numRef>
              <c:f>age_distribution!$A$2:$A$56</c:f>
              <c:numCache>
                <c:formatCode>General</c:formatCode>
                <c:ptCount val="55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  <c:pt idx="5">
                  <c:v>25</c:v>
                </c:pt>
                <c:pt idx="6">
                  <c:v>26</c:v>
                </c:pt>
                <c:pt idx="7">
                  <c:v>27</c:v>
                </c:pt>
                <c:pt idx="8">
                  <c:v>28</c:v>
                </c:pt>
                <c:pt idx="9">
                  <c:v>29</c:v>
                </c:pt>
                <c:pt idx="10">
                  <c:v>30</c:v>
                </c:pt>
                <c:pt idx="11">
                  <c:v>31</c:v>
                </c:pt>
                <c:pt idx="12">
                  <c:v>32</c:v>
                </c:pt>
                <c:pt idx="13">
                  <c:v>33</c:v>
                </c:pt>
                <c:pt idx="14">
                  <c:v>34</c:v>
                </c:pt>
                <c:pt idx="15">
                  <c:v>35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46</c:v>
                </c:pt>
                <c:pt idx="27">
                  <c:v>47</c:v>
                </c:pt>
                <c:pt idx="28">
                  <c:v>48</c:v>
                </c:pt>
                <c:pt idx="29">
                  <c:v>49</c:v>
                </c:pt>
                <c:pt idx="30">
                  <c:v>50</c:v>
                </c:pt>
                <c:pt idx="31">
                  <c:v>51</c:v>
                </c:pt>
                <c:pt idx="32">
                  <c:v>52</c:v>
                </c:pt>
                <c:pt idx="33">
                  <c:v>53</c:v>
                </c:pt>
                <c:pt idx="34">
                  <c:v>54</c:v>
                </c:pt>
                <c:pt idx="35">
                  <c:v>55</c:v>
                </c:pt>
                <c:pt idx="36">
                  <c:v>56</c:v>
                </c:pt>
                <c:pt idx="37">
                  <c:v>57</c:v>
                </c:pt>
                <c:pt idx="38">
                  <c:v>58</c:v>
                </c:pt>
                <c:pt idx="39">
                  <c:v>59</c:v>
                </c:pt>
                <c:pt idx="40">
                  <c:v>60</c:v>
                </c:pt>
                <c:pt idx="41">
                  <c:v>61</c:v>
                </c:pt>
                <c:pt idx="42">
                  <c:v>62</c:v>
                </c:pt>
                <c:pt idx="43">
                  <c:v>63</c:v>
                </c:pt>
                <c:pt idx="44">
                  <c:v>64</c:v>
                </c:pt>
                <c:pt idx="45">
                  <c:v>65</c:v>
                </c:pt>
                <c:pt idx="46">
                  <c:v>66</c:v>
                </c:pt>
                <c:pt idx="47">
                  <c:v>69</c:v>
                </c:pt>
                <c:pt idx="48">
                  <c:v>70</c:v>
                </c:pt>
                <c:pt idx="49">
                  <c:v>73</c:v>
                </c:pt>
                <c:pt idx="50">
                  <c:v>76</c:v>
                </c:pt>
                <c:pt idx="51">
                  <c:v>78</c:v>
                </c:pt>
                <c:pt idx="52">
                  <c:v>80</c:v>
                </c:pt>
                <c:pt idx="53">
                  <c:v>84</c:v>
                </c:pt>
                <c:pt idx="54">
                  <c:v>94</c:v>
                </c:pt>
              </c:numCache>
            </c:numRef>
          </c:cat>
          <c:val>
            <c:numRef>
              <c:f>age_distribution!$B$3:$B$56</c:f>
              <c:numCache>
                <c:formatCode>General</c:formatCode>
                <c:ptCount val="54"/>
                <c:pt idx="0">
                  <c:v>1220</c:v>
                </c:pt>
                <c:pt idx="1">
                  <c:v>3576</c:v>
                </c:pt>
                <c:pt idx="2">
                  <c:v>3817</c:v>
                </c:pt>
                <c:pt idx="3">
                  <c:v>3475</c:v>
                </c:pt>
                <c:pt idx="4">
                  <c:v>2972</c:v>
                </c:pt>
                <c:pt idx="5">
                  <c:v>2423</c:v>
                </c:pt>
                <c:pt idx="6">
                  <c:v>2091</c:v>
                </c:pt>
                <c:pt idx="7">
                  <c:v>1813</c:v>
                </c:pt>
                <c:pt idx="8">
                  <c:v>1662</c:v>
                </c:pt>
                <c:pt idx="9">
                  <c:v>1286</c:v>
                </c:pt>
                <c:pt idx="10">
                  <c:v>1113</c:v>
                </c:pt>
                <c:pt idx="11">
                  <c:v>936</c:v>
                </c:pt>
                <c:pt idx="12">
                  <c:v>837</c:v>
                </c:pt>
                <c:pt idx="13">
                  <c:v>692</c:v>
                </c:pt>
                <c:pt idx="14">
                  <c:v>612</c:v>
                </c:pt>
                <c:pt idx="15">
                  <c:v>539</c:v>
                </c:pt>
                <c:pt idx="16">
                  <c:v>469</c:v>
                </c:pt>
                <c:pt idx="17">
                  <c:v>364</c:v>
                </c:pt>
                <c:pt idx="18">
                  <c:v>293</c:v>
                </c:pt>
                <c:pt idx="19">
                  <c:v>262</c:v>
                </c:pt>
                <c:pt idx="20">
                  <c:v>237</c:v>
                </c:pt>
                <c:pt idx="21">
                  <c:v>180</c:v>
                </c:pt>
                <c:pt idx="22">
                  <c:v>161</c:v>
                </c:pt>
                <c:pt idx="23">
                  <c:v>138</c:v>
                </c:pt>
                <c:pt idx="24">
                  <c:v>106</c:v>
                </c:pt>
                <c:pt idx="25">
                  <c:v>91</c:v>
                </c:pt>
                <c:pt idx="26">
                  <c:v>93</c:v>
                </c:pt>
                <c:pt idx="27">
                  <c:v>74</c:v>
                </c:pt>
                <c:pt idx="28">
                  <c:v>46</c:v>
                </c:pt>
                <c:pt idx="29">
                  <c:v>51</c:v>
                </c:pt>
                <c:pt idx="30">
                  <c:v>39</c:v>
                </c:pt>
                <c:pt idx="31">
                  <c:v>36</c:v>
                </c:pt>
                <c:pt idx="32">
                  <c:v>30</c:v>
                </c:pt>
                <c:pt idx="33">
                  <c:v>24</c:v>
                </c:pt>
                <c:pt idx="34">
                  <c:v>20</c:v>
                </c:pt>
                <c:pt idx="35">
                  <c:v>15</c:v>
                </c:pt>
                <c:pt idx="36">
                  <c:v>15</c:v>
                </c:pt>
                <c:pt idx="37">
                  <c:v>19</c:v>
                </c:pt>
                <c:pt idx="38">
                  <c:v>5</c:v>
                </c:pt>
                <c:pt idx="39">
                  <c:v>15</c:v>
                </c:pt>
                <c:pt idx="40">
                  <c:v>9</c:v>
                </c:pt>
                <c:pt idx="41">
                  <c:v>6</c:v>
                </c:pt>
                <c:pt idx="42">
                  <c:v>3</c:v>
                </c:pt>
                <c:pt idx="43">
                  <c:v>7</c:v>
                </c:pt>
                <c:pt idx="44">
                  <c:v>9</c:v>
                </c:pt>
                <c:pt idx="45">
                  <c:v>8</c:v>
                </c:pt>
                <c:pt idx="46">
                  <c:v>5</c:v>
                </c:pt>
                <c:pt idx="47">
                  <c:v>7</c:v>
                </c:pt>
                <c:pt idx="48">
                  <c:v>3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230-4FE3-987A-676A3DA59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394778176"/>
        <c:axId val="394775296"/>
      </c:barChart>
      <c:catAx>
        <c:axId val="39477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94775296"/>
        <c:crosses val="autoZero"/>
        <c:auto val="1"/>
        <c:lblAlgn val="ctr"/>
        <c:lblOffset val="100"/>
        <c:noMultiLvlLbl val="0"/>
      </c:catAx>
      <c:valAx>
        <c:axId val="394775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9477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Anzahl</a:t>
            </a:r>
            <a:r>
              <a:rPr lang="de-DE" baseline="0"/>
              <a:t> Kredite pro Risikogruppe</a:t>
            </a:r>
            <a:endParaRPr lang="de-D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Modellvergleich!$L$1</c:f>
              <c:strCache>
                <c:ptCount val="1"/>
                <c:pt idx="0">
                  <c:v>Altes Modell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Modellvergleich!$K$2:$K$8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Modellvergleich!$L$2:$L$8</c:f>
              <c:numCache>
                <c:formatCode>General</c:formatCode>
                <c:ptCount val="7"/>
                <c:pt idx="0">
                  <c:v>10777</c:v>
                </c:pt>
                <c:pt idx="1">
                  <c:v>10451</c:v>
                </c:pt>
                <c:pt idx="2">
                  <c:v>6458</c:v>
                </c:pt>
                <c:pt idx="3">
                  <c:v>3626</c:v>
                </c:pt>
                <c:pt idx="4">
                  <c:v>964</c:v>
                </c:pt>
                <c:pt idx="5">
                  <c:v>241</c:v>
                </c:pt>
                <c:pt idx="6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F-49C9-A529-DF9ECD79E26C}"/>
            </c:ext>
          </c:extLst>
        </c:ser>
        <c:ser>
          <c:idx val="1"/>
          <c:order val="1"/>
          <c:tx>
            <c:strRef>
              <c:f>Modellvergleich!$M$1</c:f>
              <c:strCache>
                <c:ptCount val="1"/>
                <c:pt idx="0">
                  <c:v>Neues Modell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Modellvergleich!$K$2:$K$8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Modellvergleich!$M$2:$M$8</c:f>
              <c:numCache>
                <c:formatCode>General</c:formatCode>
                <c:ptCount val="7"/>
                <c:pt idx="0">
                  <c:v>59</c:v>
                </c:pt>
                <c:pt idx="1">
                  <c:v>6574</c:v>
                </c:pt>
                <c:pt idx="2">
                  <c:v>16558</c:v>
                </c:pt>
                <c:pt idx="3">
                  <c:v>7631</c:v>
                </c:pt>
                <c:pt idx="4">
                  <c:v>1049</c:v>
                </c:pt>
                <c:pt idx="5">
                  <c:v>53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AF-49C9-A529-DF9ECD79E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3466080"/>
        <c:axId val="393470400"/>
      </c:barChart>
      <c:catAx>
        <c:axId val="39346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93470400"/>
        <c:crosses val="autoZero"/>
        <c:auto val="1"/>
        <c:lblAlgn val="ctr"/>
        <c:lblOffset val="100"/>
        <c:noMultiLvlLbl val="0"/>
      </c:catAx>
      <c:valAx>
        <c:axId val="39347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93466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Ausfallwahrscheinlichkeiten pro Risikogruppe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Modellvergleich!$Q$1</c:f>
              <c:strCache>
                <c:ptCount val="1"/>
                <c:pt idx="0">
                  <c:v>Altes Modell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Modellvergleich!$P$2:$P$8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Modellvergleich!$Q$2:$Q$8</c:f>
              <c:numCache>
                <c:formatCode>0.00%</c:formatCode>
                <c:ptCount val="7"/>
                <c:pt idx="0">
                  <c:v>9.9599999999999994E-2</c:v>
                </c:pt>
                <c:pt idx="1">
                  <c:v>0.1628</c:v>
                </c:pt>
                <c:pt idx="2">
                  <c:v>0.20730000000000001</c:v>
                </c:pt>
                <c:pt idx="3">
                  <c:v>0.59050000000000002</c:v>
                </c:pt>
                <c:pt idx="4">
                  <c:v>0.64419999999999999</c:v>
                </c:pt>
                <c:pt idx="5">
                  <c:v>0.70540000000000003</c:v>
                </c:pt>
                <c:pt idx="6">
                  <c:v>0.98440000000000005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6-4BF3-993C-121ED16C5AC4}"/>
            </c:ext>
          </c:extLst>
        </c:ser>
        <c:ser>
          <c:idx val="1"/>
          <c:order val="1"/>
          <c:tx>
            <c:strRef>
              <c:f>Modellvergleich!$R$1</c:f>
              <c:strCache>
                <c:ptCount val="1"/>
                <c:pt idx="0">
                  <c:v>Neues Modell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Modellvergleich!$P$2:$P$8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Modellvergleich!$R$2:$R$8</c:f>
              <c:numCache>
                <c:formatCode>0.00%</c:formatCode>
                <c:ptCount val="7"/>
                <c:pt idx="0">
                  <c:v>3.39E-2</c:v>
                </c:pt>
                <c:pt idx="1">
                  <c:v>6.5100000000000005E-2</c:v>
                </c:pt>
                <c:pt idx="2">
                  <c:v>0.12659999999999999</c:v>
                </c:pt>
                <c:pt idx="3">
                  <c:v>0.40620000000000001</c:v>
                </c:pt>
                <c:pt idx="4">
                  <c:v>0.92949999999999999</c:v>
                </c:pt>
                <c:pt idx="5">
                  <c:v>0.98109999999999997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36-4BF3-993C-121ED16C5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2129760"/>
        <c:axId val="722131200"/>
      </c:barChart>
      <c:catAx>
        <c:axId val="72212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2131200"/>
        <c:crosses val="autoZero"/>
        <c:auto val="1"/>
        <c:lblAlgn val="ctr"/>
        <c:lblOffset val="100"/>
        <c:noMultiLvlLbl val="0"/>
      </c:catAx>
      <c:valAx>
        <c:axId val="72213120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212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Zusammenhang Annuität</a:t>
            </a:r>
            <a:r>
              <a:rPr lang="de-DE" baseline="0"/>
              <a:t> / Einkommen und Kreditausfälle</a:t>
            </a:r>
          </a:p>
          <a:p>
            <a:pPr>
              <a:defRPr/>
            </a:pPr>
            <a:r>
              <a:rPr lang="de-DE" sz="1000"/>
              <a:t>(in jeder Kategorie befinden sich gleich viele Kredite)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'Export Line 2463'!$C$1</c:f>
              <c:strCache>
                <c:ptCount val="1"/>
                <c:pt idx="0">
                  <c:v>Anzahl ausgefallener Kredite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'Export Line 2463'!$A$2:$A$51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'Export Line 2463'!$C$2:$C$51</c:f>
              <c:numCache>
                <c:formatCode>General</c:formatCode>
                <c:ptCount val="50"/>
                <c:pt idx="0">
                  <c:v>512</c:v>
                </c:pt>
                <c:pt idx="1">
                  <c:v>462</c:v>
                </c:pt>
                <c:pt idx="2">
                  <c:v>476</c:v>
                </c:pt>
                <c:pt idx="3">
                  <c:v>416</c:v>
                </c:pt>
                <c:pt idx="4">
                  <c:v>380</c:v>
                </c:pt>
                <c:pt idx="5">
                  <c:v>303</c:v>
                </c:pt>
                <c:pt idx="6">
                  <c:v>225</c:v>
                </c:pt>
                <c:pt idx="7">
                  <c:v>195</c:v>
                </c:pt>
                <c:pt idx="8">
                  <c:v>173</c:v>
                </c:pt>
                <c:pt idx="9">
                  <c:v>139</c:v>
                </c:pt>
                <c:pt idx="10">
                  <c:v>129</c:v>
                </c:pt>
                <c:pt idx="11">
                  <c:v>144</c:v>
                </c:pt>
                <c:pt idx="12">
                  <c:v>131</c:v>
                </c:pt>
                <c:pt idx="13">
                  <c:v>118</c:v>
                </c:pt>
                <c:pt idx="14">
                  <c:v>111</c:v>
                </c:pt>
                <c:pt idx="15">
                  <c:v>89</c:v>
                </c:pt>
                <c:pt idx="16">
                  <c:v>109</c:v>
                </c:pt>
                <c:pt idx="17">
                  <c:v>113</c:v>
                </c:pt>
                <c:pt idx="18">
                  <c:v>96</c:v>
                </c:pt>
                <c:pt idx="19">
                  <c:v>103</c:v>
                </c:pt>
                <c:pt idx="20">
                  <c:v>88</c:v>
                </c:pt>
                <c:pt idx="21">
                  <c:v>93</c:v>
                </c:pt>
                <c:pt idx="22">
                  <c:v>101</c:v>
                </c:pt>
                <c:pt idx="23">
                  <c:v>79</c:v>
                </c:pt>
                <c:pt idx="24">
                  <c:v>61</c:v>
                </c:pt>
                <c:pt idx="25">
                  <c:v>70</c:v>
                </c:pt>
                <c:pt idx="26">
                  <c:v>68</c:v>
                </c:pt>
                <c:pt idx="27">
                  <c:v>70</c:v>
                </c:pt>
                <c:pt idx="28">
                  <c:v>82</c:v>
                </c:pt>
                <c:pt idx="29">
                  <c:v>61</c:v>
                </c:pt>
                <c:pt idx="30">
                  <c:v>52</c:v>
                </c:pt>
                <c:pt idx="31">
                  <c:v>65</c:v>
                </c:pt>
                <c:pt idx="32">
                  <c:v>61</c:v>
                </c:pt>
                <c:pt idx="33">
                  <c:v>76</c:v>
                </c:pt>
                <c:pt idx="34">
                  <c:v>66</c:v>
                </c:pt>
                <c:pt idx="35">
                  <c:v>63</c:v>
                </c:pt>
                <c:pt idx="36">
                  <c:v>58</c:v>
                </c:pt>
                <c:pt idx="37">
                  <c:v>63</c:v>
                </c:pt>
                <c:pt idx="38">
                  <c:v>53</c:v>
                </c:pt>
                <c:pt idx="39">
                  <c:v>46</c:v>
                </c:pt>
                <c:pt idx="40">
                  <c:v>48</c:v>
                </c:pt>
                <c:pt idx="41">
                  <c:v>53</c:v>
                </c:pt>
                <c:pt idx="42">
                  <c:v>52</c:v>
                </c:pt>
                <c:pt idx="43">
                  <c:v>63</c:v>
                </c:pt>
                <c:pt idx="44">
                  <c:v>35</c:v>
                </c:pt>
                <c:pt idx="45">
                  <c:v>151</c:v>
                </c:pt>
                <c:pt idx="46">
                  <c:v>109</c:v>
                </c:pt>
                <c:pt idx="47">
                  <c:v>110</c:v>
                </c:pt>
                <c:pt idx="48">
                  <c:v>124</c:v>
                </c:pt>
                <c:pt idx="49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71-4975-B59E-63066DB5C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1653312"/>
        <c:axId val="1281653792"/>
      </c:lineChart>
      <c:lineChart>
        <c:grouping val="standard"/>
        <c:varyColors val="0"/>
        <c:ser>
          <c:idx val="1"/>
          <c:order val="1"/>
          <c:tx>
            <c:strRef>
              <c:f>'Export Line 2463'!$D$1</c:f>
              <c:strCache>
                <c:ptCount val="1"/>
                <c:pt idx="0">
                  <c:v>Durchschnitt Zahlungen / Einkommen (pro Jahr)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'Export Line 2463'!$A$2:$A$51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'Export Line 2463'!$D$2:$D$51</c:f>
              <c:numCache>
                <c:formatCode>General</c:formatCode>
                <c:ptCount val="50"/>
                <c:pt idx="0">
                  <c:v>9.1730841514017503E-2</c:v>
                </c:pt>
                <c:pt idx="1">
                  <c:v>7.3707540427542906E-2</c:v>
                </c:pt>
                <c:pt idx="2">
                  <c:v>6.6043472046278598E-2</c:v>
                </c:pt>
                <c:pt idx="3">
                  <c:v>6.0769055450111097E-2</c:v>
                </c:pt>
                <c:pt idx="4">
                  <c:v>5.6402797446811002E-2</c:v>
                </c:pt>
                <c:pt idx="5">
                  <c:v>5.3074705746642699E-2</c:v>
                </c:pt>
                <c:pt idx="6">
                  <c:v>4.9964971464424003E-2</c:v>
                </c:pt>
                <c:pt idx="7">
                  <c:v>4.7402046169649999E-2</c:v>
                </c:pt>
                <c:pt idx="8">
                  <c:v>4.5030680362999599E-2</c:v>
                </c:pt>
                <c:pt idx="9">
                  <c:v>4.29702790376532E-2</c:v>
                </c:pt>
                <c:pt idx="10">
                  <c:v>4.1006592778981998E-2</c:v>
                </c:pt>
                <c:pt idx="11">
                  <c:v>3.9094029221347498E-2</c:v>
                </c:pt>
                <c:pt idx="12">
                  <c:v>3.7375147796962903E-2</c:v>
                </c:pt>
                <c:pt idx="13">
                  <c:v>3.5830464849693398E-2</c:v>
                </c:pt>
                <c:pt idx="14">
                  <c:v>3.4439749451774401E-2</c:v>
                </c:pt>
                <c:pt idx="15">
                  <c:v>3.3087946162308098E-2</c:v>
                </c:pt>
                <c:pt idx="16">
                  <c:v>3.1777787185876198E-2</c:v>
                </c:pt>
                <c:pt idx="17">
                  <c:v>3.04385457201845E-2</c:v>
                </c:pt>
                <c:pt idx="18">
                  <c:v>2.9220507833962399E-2</c:v>
                </c:pt>
                <c:pt idx="19">
                  <c:v>2.8090813471213099E-2</c:v>
                </c:pt>
                <c:pt idx="20">
                  <c:v>2.69989644916044E-2</c:v>
                </c:pt>
                <c:pt idx="21">
                  <c:v>2.5895040222749698E-2</c:v>
                </c:pt>
                <c:pt idx="22">
                  <c:v>2.48404008921887E-2</c:v>
                </c:pt>
                <c:pt idx="23">
                  <c:v>2.38072911208893E-2</c:v>
                </c:pt>
                <c:pt idx="24">
                  <c:v>2.2861236817572999E-2</c:v>
                </c:pt>
                <c:pt idx="25">
                  <c:v>2.1948961409062301E-2</c:v>
                </c:pt>
                <c:pt idx="26">
                  <c:v>2.0987291087112898E-2</c:v>
                </c:pt>
                <c:pt idx="27">
                  <c:v>2.0100620391453598E-2</c:v>
                </c:pt>
                <c:pt idx="28">
                  <c:v>1.9207960185168502E-2</c:v>
                </c:pt>
                <c:pt idx="29">
                  <c:v>1.8360124662984999E-2</c:v>
                </c:pt>
                <c:pt idx="30">
                  <c:v>1.7494585928490101E-2</c:v>
                </c:pt>
                <c:pt idx="31">
                  <c:v>1.6694289086597001E-2</c:v>
                </c:pt>
                <c:pt idx="32">
                  <c:v>1.58882281073108E-2</c:v>
                </c:pt>
                <c:pt idx="33">
                  <c:v>1.50594576801366E-2</c:v>
                </c:pt>
                <c:pt idx="34">
                  <c:v>1.41828467267114E-2</c:v>
                </c:pt>
                <c:pt idx="35">
                  <c:v>1.32922764660566E-2</c:v>
                </c:pt>
                <c:pt idx="36">
                  <c:v>1.2407725869718099E-2</c:v>
                </c:pt>
                <c:pt idx="37">
                  <c:v>1.1553601828264501E-2</c:v>
                </c:pt>
                <c:pt idx="38">
                  <c:v>1.06758075165822E-2</c:v>
                </c:pt>
                <c:pt idx="39">
                  <c:v>9.7540180545855008E-3</c:v>
                </c:pt>
                <c:pt idx="40">
                  <c:v>8.8468661054201796E-3</c:v>
                </c:pt>
                <c:pt idx="41">
                  <c:v>7.8914397502746307E-3</c:v>
                </c:pt>
                <c:pt idx="42">
                  <c:v>6.7991279250764203E-3</c:v>
                </c:pt>
                <c:pt idx="43">
                  <c:v>5.5901503753618296E-3</c:v>
                </c:pt>
                <c:pt idx="44">
                  <c:v>3.8766081828151698E-3</c:v>
                </c:pt>
                <c:pt idx="45">
                  <c:v>1.8153313232764799E-3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71-4975-B59E-63066DB5C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1637952"/>
        <c:axId val="1281624512"/>
      </c:lineChart>
      <c:catAx>
        <c:axId val="12816533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Kategorie,</a:t>
                </a:r>
                <a:r>
                  <a:rPr lang="de-DE" baseline="0" dirty="0"/>
                  <a:t> alle </a:t>
                </a:r>
                <a:r>
                  <a:rPr lang="de-DE" baseline="0" dirty="0" err="1"/>
                  <a:t>Kreite</a:t>
                </a:r>
                <a:r>
                  <a:rPr lang="de-DE" baseline="0" dirty="0"/>
                  <a:t> in 50 </a:t>
                </a:r>
                <a:r>
                  <a:rPr lang="de-DE" baseline="0" dirty="0" err="1"/>
                  <a:t>gelich</a:t>
                </a:r>
                <a:r>
                  <a:rPr lang="de-DE" baseline="0" dirty="0"/>
                  <a:t> große Untergruppen aufgeteilt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81653792"/>
        <c:crosses val="autoZero"/>
        <c:auto val="1"/>
        <c:lblAlgn val="ctr"/>
        <c:lblOffset val="100"/>
        <c:noMultiLvlLbl val="0"/>
      </c:catAx>
      <c:valAx>
        <c:axId val="1281653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>
                    <a:solidFill>
                      <a:schemeClr val="tx2"/>
                    </a:solidFill>
                  </a:rPr>
                  <a:t>Anzahl der Kreditausfälle pro 639 Kredite (Orange)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81653312"/>
        <c:crosses val="autoZero"/>
        <c:crossBetween val="between"/>
      </c:valAx>
      <c:valAx>
        <c:axId val="1281624512"/>
        <c:scaling>
          <c:orientation val="minMax"/>
          <c:max val="0.1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>
                    <a:solidFill>
                      <a:schemeClr val="accent2"/>
                    </a:solidFill>
                  </a:rPr>
                  <a:t>Durchschnittlicher Anteil</a:t>
                </a:r>
                <a:r>
                  <a:rPr lang="de-DE" baseline="0">
                    <a:solidFill>
                      <a:schemeClr val="accent2"/>
                    </a:solidFill>
                  </a:rPr>
                  <a:t> am Einkommen, den Kreditnehmer pro Jahr zurückzahlen müssen (Türkies)</a:t>
                </a:r>
                <a:endParaRPr lang="de-DE">
                  <a:solidFill>
                    <a:schemeClr val="accent2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81637952"/>
        <c:crosses val="max"/>
        <c:crossBetween val="between"/>
      </c:valAx>
      <c:catAx>
        <c:axId val="12816379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816245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Neues</a:t>
            </a:r>
            <a:r>
              <a:rPr lang="de-DE" baseline="0"/>
              <a:t> Modell - Minimaler Zinssatz</a:t>
            </a:r>
            <a:endParaRPr lang="de-D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'Modellvergleich Gewinne'!$C$2</c:f>
              <c:strCache>
                <c:ptCount val="1"/>
                <c:pt idx="0">
                  <c:v>Zinssatz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'Modellvergleich Gewinne'!$B$3:$B$8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'Modellvergleich Gewinne'!$C$3:$C$8</c:f>
              <c:numCache>
                <c:formatCode>0.00%</c:formatCode>
                <c:ptCount val="6"/>
                <c:pt idx="0">
                  <c:v>3.6999999999999998E-2</c:v>
                </c:pt>
                <c:pt idx="1">
                  <c:v>5.2499999999999998E-2</c:v>
                </c:pt>
                <c:pt idx="2">
                  <c:v>8.3299999999999999E-2</c:v>
                </c:pt>
                <c:pt idx="3">
                  <c:v>0.22309999999999999</c:v>
                </c:pt>
                <c:pt idx="4">
                  <c:v>0.48480000000000001</c:v>
                </c:pt>
                <c:pt idx="5">
                  <c:v>0.51049999999999995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66-4A1D-BD2C-BD6B01D1A740}"/>
            </c:ext>
          </c:extLst>
        </c:ser>
        <c:ser>
          <c:idx val="1"/>
          <c:order val="1"/>
          <c:tx>
            <c:strRef>
              <c:f>'Modellvergleich Gewinne'!$D$2</c:f>
              <c:strCache>
                <c:ptCount val="1"/>
                <c:pt idx="0">
                  <c:v>Ausfallrisiko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'Modellvergleich Gewinne'!$B$3:$B$8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'Modellvergleich Gewinne'!$D$3:$D$8</c:f>
              <c:numCache>
                <c:formatCode>0.00%</c:formatCode>
                <c:ptCount val="6"/>
                <c:pt idx="0">
                  <c:v>3.39E-2</c:v>
                </c:pt>
                <c:pt idx="1">
                  <c:v>6.5100000000000005E-2</c:v>
                </c:pt>
                <c:pt idx="2">
                  <c:v>0.12659999999999999</c:v>
                </c:pt>
                <c:pt idx="3">
                  <c:v>0.40620000000000001</c:v>
                </c:pt>
                <c:pt idx="4">
                  <c:v>0.92949999999999999</c:v>
                </c:pt>
                <c:pt idx="5">
                  <c:v>0.98109999999999997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66-4A1D-BD2C-BD6B01D1A7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8576736"/>
        <c:axId val="288578176"/>
      </c:barChart>
      <c:catAx>
        <c:axId val="288576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88578176"/>
        <c:crosses val="autoZero"/>
        <c:auto val="1"/>
        <c:lblAlgn val="ctr"/>
        <c:lblOffset val="100"/>
        <c:noMultiLvlLbl val="0"/>
      </c:catAx>
      <c:valAx>
        <c:axId val="28857817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8857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EFE96E-3436-442F-9FD7-B2942FBA056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DD4834-5F8D-4CC3-BF3A-A3C12327A8B4}">
      <dgm:prSet/>
      <dgm:spPr/>
      <dgm:t>
        <a:bodyPr/>
        <a:lstStyle/>
        <a:p>
          <a:r>
            <a:rPr lang="de-DE"/>
            <a:t>Ist der momentane Risikobewertungsprozess ineffizient?</a:t>
          </a:r>
          <a:endParaRPr lang="en-US"/>
        </a:p>
      </dgm:t>
    </dgm:pt>
    <dgm:pt modelId="{55B681E8-BD1D-45DB-B2F9-E62AB26E279C}" type="parTrans" cxnId="{6DD96D9F-E66F-4C38-A184-E468BA228984}">
      <dgm:prSet/>
      <dgm:spPr/>
      <dgm:t>
        <a:bodyPr/>
        <a:lstStyle/>
        <a:p>
          <a:endParaRPr lang="en-US"/>
        </a:p>
      </dgm:t>
    </dgm:pt>
    <dgm:pt modelId="{3F03E681-F218-43F7-8418-03B7F1EFB81F}" type="sibTrans" cxnId="{6DD96D9F-E66F-4C38-A184-E468BA228984}">
      <dgm:prSet/>
      <dgm:spPr/>
      <dgm:t>
        <a:bodyPr/>
        <a:lstStyle/>
        <a:p>
          <a:endParaRPr lang="en-US"/>
        </a:p>
      </dgm:t>
    </dgm:pt>
    <dgm:pt modelId="{D16C4CA7-06E7-48BF-BA03-BB58B0E3A761}">
      <dgm:prSet/>
      <dgm:spPr/>
      <dgm:t>
        <a:bodyPr/>
        <a:lstStyle/>
        <a:p>
          <a:r>
            <a:rPr lang="de-DE"/>
            <a:t>Wie machen wir es besser?</a:t>
          </a:r>
          <a:endParaRPr lang="en-US"/>
        </a:p>
      </dgm:t>
    </dgm:pt>
    <dgm:pt modelId="{0958C1F4-CF3F-4B94-BE3C-A5860D6B8752}" type="parTrans" cxnId="{36A1618E-7EDC-4440-9D86-74D0775B4AE5}">
      <dgm:prSet/>
      <dgm:spPr/>
      <dgm:t>
        <a:bodyPr/>
        <a:lstStyle/>
        <a:p>
          <a:endParaRPr lang="en-US"/>
        </a:p>
      </dgm:t>
    </dgm:pt>
    <dgm:pt modelId="{B9EC7DF4-CC67-4FC6-9BB6-A4800F98BE67}" type="sibTrans" cxnId="{36A1618E-7EDC-4440-9D86-74D0775B4AE5}">
      <dgm:prSet/>
      <dgm:spPr/>
      <dgm:t>
        <a:bodyPr/>
        <a:lstStyle/>
        <a:p>
          <a:endParaRPr lang="en-US"/>
        </a:p>
      </dgm:t>
    </dgm:pt>
    <dgm:pt modelId="{B03F4336-F4E7-4290-8100-D3E5D0ACFB08}" type="pres">
      <dgm:prSet presAssocID="{17EFE96E-3436-442F-9FD7-B2942FBA056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B8228C-BB4A-401D-99E5-9E2474A23D7C}" type="pres">
      <dgm:prSet presAssocID="{4EDD4834-5F8D-4CC3-BF3A-A3C12327A8B4}" presName="hierRoot1" presStyleCnt="0"/>
      <dgm:spPr/>
    </dgm:pt>
    <dgm:pt modelId="{03913771-D2FD-408E-8145-55D7A89EA803}" type="pres">
      <dgm:prSet presAssocID="{4EDD4834-5F8D-4CC3-BF3A-A3C12327A8B4}" presName="composite" presStyleCnt="0"/>
      <dgm:spPr/>
    </dgm:pt>
    <dgm:pt modelId="{92E6310C-E732-4B18-8390-58E2649BB4FA}" type="pres">
      <dgm:prSet presAssocID="{4EDD4834-5F8D-4CC3-BF3A-A3C12327A8B4}" presName="background" presStyleLbl="node0" presStyleIdx="0" presStyleCnt="2"/>
      <dgm:spPr/>
    </dgm:pt>
    <dgm:pt modelId="{F641A31C-2C83-4B80-BA58-F2F088AFCDE9}" type="pres">
      <dgm:prSet presAssocID="{4EDD4834-5F8D-4CC3-BF3A-A3C12327A8B4}" presName="text" presStyleLbl="fgAcc0" presStyleIdx="0" presStyleCnt="2">
        <dgm:presLayoutVars>
          <dgm:chPref val="3"/>
        </dgm:presLayoutVars>
      </dgm:prSet>
      <dgm:spPr/>
    </dgm:pt>
    <dgm:pt modelId="{A679D1A5-C18B-43B1-93A1-275E1519A809}" type="pres">
      <dgm:prSet presAssocID="{4EDD4834-5F8D-4CC3-BF3A-A3C12327A8B4}" presName="hierChild2" presStyleCnt="0"/>
      <dgm:spPr/>
    </dgm:pt>
    <dgm:pt modelId="{D5A1DB13-B082-4414-A5F4-7D467032F46A}" type="pres">
      <dgm:prSet presAssocID="{D16C4CA7-06E7-48BF-BA03-BB58B0E3A761}" presName="hierRoot1" presStyleCnt="0"/>
      <dgm:spPr/>
    </dgm:pt>
    <dgm:pt modelId="{98366E3B-CCBC-40E9-84B3-C291B5DEDBD8}" type="pres">
      <dgm:prSet presAssocID="{D16C4CA7-06E7-48BF-BA03-BB58B0E3A761}" presName="composite" presStyleCnt="0"/>
      <dgm:spPr/>
    </dgm:pt>
    <dgm:pt modelId="{B7EBCD6D-9FD5-48D0-B4EA-42F85E40EA1E}" type="pres">
      <dgm:prSet presAssocID="{D16C4CA7-06E7-48BF-BA03-BB58B0E3A761}" presName="background" presStyleLbl="node0" presStyleIdx="1" presStyleCnt="2"/>
      <dgm:spPr/>
    </dgm:pt>
    <dgm:pt modelId="{E2D171F9-D8C5-4B88-8F88-FD114E2C74FB}" type="pres">
      <dgm:prSet presAssocID="{D16C4CA7-06E7-48BF-BA03-BB58B0E3A761}" presName="text" presStyleLbl="fgAcc0" presStyleIdx="1" presStyleCnt="2">
        <dgm:presLayoutVars>
          <dgm:chPref val="3"/>
        </dgm:presLayoutVars>
      </dgm:prSet>
      <dgm:spPr/>
    </dgm:pt>
    <dgm:pt modelId="{666C2242-65CD-4101-A2A8-51909C0BE9FA}" type="pres">
      <dgm:prSet presAssocID="{D16C4CA7-06E7-48BF-BA03-BB58B0E3A761}" presName="hierChild2" presStyleCnt="0"/>
      <dgm:spPr/>
    </dgm:pt>
  </dgm:ptLst>
  <dgm:cxnLst>
    <dgm:cxn modelId="{D2E17612-E562-4812-9B75-EF0F88005868}" type="presOf" srcId="{4EDD4834-5F8D-4CC3-BF3A-A3C12327A8B4}" destId="{F641A31C-2C83-4B80-BA58-F2F088AFCDE9}" srcOrd="0" destOrd="0" presId="urn:microsoft.com/office/officeart/2005/8/layout/hierarchy1"/>
    <dgm:cxn modelId="{CE52AB6D-8730-4F4E-9182-571B5C59F4F3}" type="presOf" srcId="{D16C4CA7-06E7-48BF-BA03-BB58B0E3A761}" destId="{E2D171F9-D8C5-4B88-8F88-FD114E2C74FB}" srcOrd="0" destOrd="0" presId="urn:microsoft.com/office/officeart/2005/8/layout/hierarchy1"/>
    <dgm:cxn modelId="{36A1618E-7EDC-4440-9D86-74D0775B4AE5}" srcId="{17EFE96E-3436-442F-9FD7-B2942FBA0566}" destId="{D16C4CA7-06E7-48BF-BA03-BB58B0E3A761}" srcOrd="1" destOrd="0" parTransId="{0958C1F4-CF3F-4B94-BE3C-A5860D6B8752}" sibTransId="{B9EC7DF4-CC67-4FC6-9BB6-A4800F98BE67}"/>
    <dgm:cxn modelId="{6DD96D9F-E66F-4C38-A184-E468BA228984}" srcId="{17EFE96E-3436-442F-9FD7-B2942FBA0566}" destId="{4EDD4834-5F8D-4CC3-BF3A-A3C12327A8B4}" srcOrd="0" destOrd="0" parTransId="{55B681E8-BD1D-45DB-B2F9-E62AB26E279C}" sibTransId="{3F03E681-F218-43F7-8418-03B7F1EFB81F}"/>
    <dgm:cxn modelId="{2F2B6BCB-D35B-4052-B28F-CA2B0ABB5B45}" type="presOf" srcId="{17EFE96E-3436-442F-9FD7-B2942FBA0566}" destId="{B03F4336-F4E7-4290-8100-D3E5D0ACFB08}" srcOrd="0" destOrd="0" presId="urn:microsoft.com/office/officeart/2005/8/layout/hierarchy1"/>
    <dgm:cxn modelId="{10705251-40D0-44E5-970C-5C1C7ED633A3}" type="presParOf" srcId="{B03F4336-F4E7-4290-8100-D3E5D0ACFB08}" destId="{A2B8228C-BB4A-401D-99E5-9E2474A23D7C}" srcOrd="0" destOrd="0" presId="urn:microsoft.com/office/officeart/2005/8/layout/hierarchy1"/>
    <dgm:cxn modelId="{BC9A4226-3DC8-4A57-8434-0B1D5871A27B}" type="presParOf" srcId="{A2B8228C-BB4A-401D-99E5-9E2474A23D7C}" destId="{03913771-D2FD-408E-8145-55D7A89EA803}" srcOrd="0" destOrd="0" presId="urn:microsoft.com/office/officeart/2005/8/layout/hierarchy1"/>
    <dgm:cxn modelId="{6ACC4EF7-1373-49FA-A947-DFBFACFEAF5B}" type="presParOf" srcId="{03913771-D2FD-408E-8145-55D7A89EA803}" destId="{92E6310C-E732-4B18-8390-58E2649BB4FA}" srcOrd="0" destOrd="0" presId="urn:microsoft.com/office/officeart/2005/8/layout/hierarchy1"/>
    <dgm:cxn modelId="{46EAE05A-1F45-4B1F-B27E-BB1E9CD28E02}" type="presParOf" srcId="{03913771-D2FD-408E-8145-55D7A89EA803}" destId="{F641A31C-2C83-4B80-BA58-F2F088AFCDE9}" srcOrd="1" destOrd="0" presId="urn:microsoft.com/office/officeart/2005/8/layout/hierarchy1"/>
    <dgm:cxn modelId="{7AAFF861-1EC4-4E20-9E91-B86B5ABB161A}" type="presParOf" srcId="{A2B8228C-BB4A-401D-99E5-9E2474A23D7C}" destId="{A679D1A5-C18B-43B1-93A1-275E1519A809}" srcOrd="1" destOrd="0" presId="urn:microsoft.com/office/officeart/2005/8/layout/hierarchy1"/>
    <dgm:cxn modelId="{0B73D16D-DBA5-4BC8-8595-3E54A68AA059}" type="presParOf" srcId="{B03F4336-F4E7-4290-8100-D3E5D0ACFB08}" destId="{D5A1DB13-B082-4414-A5F4-7D467032F46A}" srcOrd="1" destOrd="0" presId="urn:microsoft.com/office/officeart/2005/8/layout/hierarchy1"/>
    <dgm:cxn modelId="{78B0EFD6-5338-468C-BC2F-B6D9C5608C6C}" type="presParOf" srcId="{D5A1DB13-B082-4414-A5F4-7D467032F46A}" destId="{98366E3B-CCBC-40E9-84B3-C291B5DEDBD8}" srcOrd="0" destOrd="0" presId="urn:microsoft.com/office/officeart/2005/8/layout/hierarchy1"/>
    <dgm:cxn modelId="{55FDCC5A-6982-4A61-AF86-1FBDE5B75874}" type="presParOf" srcId="{98366E3B-CCBC-40E9-84B3-C291B5DEDBD8}" destId="{B7EBCD6D-9FD5-48D0-B4EA-42F85E40EA1E}" srcOrd="0" destOrd="0" presId="urn:microsoft.com/office/officeart/2005/8/layout/hierarchy1"/>
    <dgm:cxn modelId="{CBCE4220-C2C3-4D21-A55F-C39E2E8B6278}" type="presParOf" srcId="{98366E3B-CCBC-40E9-84B3-C291B5DEDBD8}" destId="{E2D171F9-D8C5-4B88-8F88-FD114E2C74FB}" srcOrd="1" destOrd="0" presId="urn:microsoft.com/office/officeart/2005/8/layout/hierarchy1"/>
    <dgm:cxn modelId="{1348FDBA-22B9-4908-A885-09DCEEFAAABC}" type="presParOf" srcId="{D5A1DB13-B082-4414-A5F4-7D467032F46A}" destId="{666C2242-65CD-4101-A2A8-51909C0BE9F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6310C-E732-4B18-8390-58E2649BB4FA}">
      <dsp:nvSpPr>
        <dsp:cNvPr id="0" name=""/>
        <dsp:cNvSpPr/>
      </dsp:nvSpPr>
      <dsp:spPr>
        <a:xfrm>
          <a:off x="136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1A31C-2C83-4B80-BA58-F2F088AFCDE9}">
      <dsp:nvSpPr>
        <dsp:cNvPr id="0" name=""/>
        <dsp:cNvSpPr/>
      </dsp:nvSpPr>
      <dsp:spPr>
        <a:xfrm>
          <a:off x="53251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Ist der momentane Risikobewertungsprozess ineffizient?</a:t>
          </a:r>
          <a:endParaRPr lang="en-US" sz="3100" kern="1200"/>
        </a:p>
      </dsp:txBody>
      <dsp:txXfrm>
        <a:off x="621423" y="707003"/>
        <a:ext cx="4602566" cy="2857726"/>
      </dsp:txXfrm>
    </dsp:sp>
    <dsp:sp modelId="{B7EBCD6D-9FD5-48D0-B4EA-42F85E40EA1E}">
      <dsp:nvSpPr>
        <dsp:cNvPr id="0" name=""/>
        <dsp:cNvSpPr/>
      </dsp:nvSpPr>
      <dsp:spPr>
        <a:xfrm>
          <a:off x="584405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71F9-D8C5-4B88-8F88-FD114E2C74FB}">
      <dsp:nvSpPr>
        <dsp:cNvPr id="0" name=""/>
        <dsp:cNvSpPr/>
      </dsp:nvSpPr>
      <dsp:spPr>
        <a:xfrm>
          <a:off x="637520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Wie machen wir es besser?</a:t>
          </a:r>
          <a:endParaRPr lang="en-US" sz="3100" kern="1200"/>
        </a:p>
      </dsp:txBody>
      <dsp:txXfrm>
        <a:off x="6464113" y="707003"/>
        <a:ext cx="4602566" cy="2857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96EF83F-2A6A-6E4C-9776-2D4CC4518A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409F7E-479E-78ED-23DA-ABBFD10F53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8574-9F21-4CC3-88CD-D6A520FA475F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842980-48B8-BA59-E978-3B2DF3D263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A206AA-4F37-E557-A875-68C459C029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C6253-1873-4178-B6A8-F31DDA015D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9705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3222-BD4C-4455-84FE-3023968F946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AE03-359E-4EF9-92FF-0BBF3B7AAA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45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F131-7B33-421F-9E26-7EA232F8D368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1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44BD-92CB-456E-A084-2D2607F1AE95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3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1286-7383-4F6B-852E-73E66162908A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9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908E5-DC72-4DB9-9C15-A0FF214B128E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21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46C70-84F2-49A2-A741-5161F3DE15AE}" type="datetime1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1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430A0-FBB1-4EF8-8DD2-B90DAFBB8D39}" type="datetime1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2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2CCB1-FCC5-454A-88CC-1701150FCBA0}" type="datetime1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0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93A5-5C40-48CC-8F03-B268EAD4F9FF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1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FEC0C-0DC4-4941-9D0A-164A2C5F3713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8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3159A-F178-435C-83FA-75DFDB46C764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8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D91FC-6EC9-48B6-B35B-34A26F008B71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2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D3B7DBF-2105-4A14-A3FD-1BDF2D58F8E4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2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1.xls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3.xls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Excel_Worksheet5.xls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Stift, der über einer Unterschriftszeile platziert ist">
            <a:extLst>
              <a:ext uri="{FF2B5EF4-FFF2-40B4-BE49-F238E27FC236}">
                <a16:creationId xmlns:a16="http://schemas.microsoft.com/office/drawing/2014/main" id="{AB8CC4DF-F703-4EAE-3918-9E46B92B7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39B6AA-0AC7-CDA0-E265-62FC50C49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de-DE" sz="6600"/>
              <a:t>Kredite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03DCA2-6ADC-F6A1-390E-D43B816C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de-DE" sz="2400"/>
              <a:t>Risiko, Ausfälle, Gewinn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1A7257-BE43-A9C9-8E17-E8619962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37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5B45C0-EDC3-1C34-4A76-37892FAA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de-DE" dirty="0"/>
              <a:t>Die zwei großen Fragen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Inhaltsplatzhalter 2">
            <a:extLst>
              <a:ext uri="{FF2B5EF4-FFF2-40B4-BE49-F238E27FC236}">
                <a16:creationId xmlns:a16="http://schemas.microsoft.com/office/drawing/2014/main" id="{AC26172E-F9F0-C110-A257-DE5312DA3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86335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1ADBED-48D2-BAF1-4A4D-AA60678B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0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B7A5C-39EE-77A0-28F9-DF513723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F8497B-F195-C104-0B50-4298D774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5376672"/>
          </a:xfrm>
        </p:spPr>
        <p:txBody>
          <a:bodyPr>
            <a:normAutofit/>
          </a:bodyPr>
          <a:lstStyle/>
          <a:p>
            <a:r>
              <a:rPr lang="de-DE" sz="4000" dirty="0"/>
              <a:t>Datensatz Beschreibung</a:t>
            </a:r>
            <a:br>
              <a:rPr lang="de-DE" sz="4000" dirty="0"/>
            </a:br>
            <a:r>
              <a:rPr lang="de-DE" sz="1600" dirty="0"/>
              <a:t>(32 581 Kredite)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6308857-7A89-1A62-1570-FE83C629F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1042416"/>
            <a:ext cx="7031736" cy="53126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DE" dirty="0"/>
              <a:t>Alter</a:t>
            </a:r>
          </a:p>
          <a:p>
            <a:pPr>
              <a:lnSpc>
                <a:spcPct val="100000"/>
              </a:lnSpc>
            </a:pPr>
            <a:r>
              <a:rPr lang="de-DE" dirty="0"/>
              <a:t>Dauer des gegenwärtigen Angestelltenverhältnisses / Berufes</a:t>
            </a:r>
          </a:p>
          <a:p>
            <a:pPr>
              <a:lnSpc>
                <a:spcPct val="100000"/>
              </a:lnSpc>
            </a:pPr>
            <a:r>
              <a:rPr lang="de-DE" dirty="0"/>
              <a:t>Jahreseinkommen</a:t>
            </a:r>
          </a:p>
          <a:p>
            <a:pPr>
              <a:lnSpc>
                <a:spcPct val="100000"/>
              </a:lnSpc>
            </a:pPr>
            <a:r>
              <a:rPr lang="de-DE" dirty="0"/>
              <a:t>Wohnungsverhältnis (</a:t>
            </a:r>
            <a:r>
              <a:rPr lang="de-DE" dirty="0" err="1"/>
              <a:t>rent</a:t>
            </a:r>
            <a:r>
              <a:rPr lang="de-DE" dirty="0"/>
              <a:t>, </a:t>
            </a:r>
            <a:r>
              <a:rPr lang="de-DE" dirty="0" err="1"/>
              <a:t>mortgage</a:t>
            </a:r>
            <a:r>
              <a:rPr lang="de-DE" dirty="0"/>
              <a:t>, own, </a:t>
            </a:r>
            <a:r>
              <a:rPr lang="de-DE" dirty="0" err="1"/>
              <a:t>other</a:t>
            </a:r>
            <a:r>
              <a:rPr lang="de-DE" dirty="0"/>
              <a:t>)</a:t>
            </a:r>
          </a:p>
          <a:p>
            <a:pPr>
              <a:lnSpc>
                <a:spcPct val="100000"/>
              </a:lnSpc>
            </a:pPr>
            <a:r>
              <a:rPr lang="de-DE" dirty="0"/>
              <a:t>Grund des Kredits (</a:t>
            </a:r>
            <a:r>
              <a:rPr lang="de-DE" dirty="0" err="1"/>
              <a:t>Debt-consolidation</a:t>
            </a:r>
            <a:r>
              <a:rPr lang="de-DE" dirty="0"/>
              <a:t>, Education, Home </a:t>
            </a:r>
            <a:r>
              <a:rPr lang="de-DE" dirty="0" err="1"/>
              <a:t>Improvement</a:t>
            </a:r>
            <a:r>
              <a:rPr lang="de-DE" dirty="0"/>
              <a:t>, Medical, Personal, Venture)</a:t>
            </a:r>
          </a:p>
          <a:p>
            <a:pPr>
              <a:lnSpc>
                <a:spcPct val="100000"/>
              </a:lnSpc>
            </a:pPr>
            <a:r>
              <a:rPr lang="de-DE" dirty="0"/>
              <a:t>Kredithöhe</a:t>
            </a:r>
          </a:p>
          <a:p>
            <a:pPr>
              <a:lnSpc>
                <a:spcPct val="100000"/>
              </a:lnSpc>
            </a:pPr>
            <a:r>
              <a:rPr lang="de-DE" dirty="0"/>
              <a:t>Kreditbewertung (A-G)</a:t>
            </a:r>
          </a:p>
          <a:p>
            <a:pPr>
              <a:lnSpc>
                <a:spcPct val="100000"/>
              </a:lnSpc>
            </a:pPr>
            <a:r>
              <a:rPr lang="de-DE" dirty="0"/>
              <a:t>Kredit-Zinssatz</a:t>
            </a:r>
          </a:p>
          <a:p>
            <a:pPr>
              <a:lnSpc>
                <a:spcPct val="100000"/>
              </a:lnSpc>
            </a:pPr>
            <a:r>
              <a:rPr lang="de-DE" dirty="0"/>
              <a:t>Kredit-Ausfallstatus</a:t>
            </a:r>
          </a:p>
          <a:p>
            <a:pPr>
              <a:lnSpc>
                <a:spcPct val="100000"/>
              </a:lnSpc>
            </a:pPr>
            <a:r>
              <a:rPr lang="de-DE" dirty="0"/>
              <a:t>Kredithöhe Anteil am Einkommen</a:t>
            </a:r>
          </a:p>
          <a:p>
            <a:pPr>
              <a:lnSpc>
                <a:spcPct val="100000"/>
              </a:lnSpc>
            </a:pPr>
            <a:r>
              <a:rPr lang="de-DE" dirty="0"/>
              <a:t>Kreditausfälle zuvor (Y/N)</a:t>
            </a:r>
          </a:p>
          <a:p>
            <a:pPr>
              <a:lnSpc>
                <a:spcPct val="100000"/>
              </a:lnSpc>
            </a:pPr>
            <a:r>
              <a:rPr lang="de-DE" dirty="0"/>
              <a:t>Kredithistorie (Anzahl der zuvor genommenen Kredite)</a:t>
            </a:r>
          </a:p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13D2B6-E225-2ADB-0DBE-CE9A3B3F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4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2E69A-7C2E-F259-0363-D904D43C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in den Daten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18DE8F-CCC7-2F94-1273-93802821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Zeit im gegenwärtigen Angestelltenverhältnis</a:t>
            </a:r>
          </a:p>
          <a:p>
            <a:pPr lvl="1"/>
            <a:r>
              <a:rPr lang="de-DE" dirty="0"/>
              <a:t>Sehr kuriose Werte (z.B. 1230 Jahre, oder 30 Jahre obwohl Kreditnehmer nur 22 Jahre alt ist)</a:t>
            </a:r>
          </a:p>
          <a:p>
            <a:pPr lvl="1"/>
            <a:r>
              <a:rPr lang="de-DE" dirty="0"/>
              <a:t>Faustregel: Maximales gegenwärtiges Angestelltenverhältnis Dauer = Alter – 18</a:t>
            </a:r>
          </a:p>
          <a:p>
            <a:pPr lvl="1"/>
            <a:r>
              <a:rPr lang="de-DE" dirty="0"/>
              <a:t>Für wen das nicht zutrifft (24.73%): Wert auf NULL gesetzt, Differenz in neuer Spalte gespeichert</a:t>
            </a:r>
          </a:p>
          <a:p>
            <a:r>
              <a:rPr lang="de-DE" dirty="0"/>
              <a:t>Konsistenz: Einkommen, Kredithöhe, Anteil Kredithöhe am Einkommen</a:t>
            </a:r>
          </a:p>
          <a:p>
            <a:pPr lvl="1"/>
            <a:r>
              <a:rPr lang="de-DE" dirty="0"/>
              <a:t>Das sind drei Werte, die ineinander konsistent sein müssen</a:t>
            </a:r>
          </a:p>
          <a:p>
            <a:pPr lvl="1"/>
            <a:r>
              <a:rPr lang="de-DE" dirty="0"/>
              <a:t>Bei 2% der Daten war das nicht der Fall, diese wurden bereinigt</a:t>
            </a:r>
          </a:p>
          <a:p>
            <a:r>
              <a:rPr lang="de-DE" dirty="0"/>
              <a:t>Alter (Maximalwert: 144)</a:t>
            </a:r>
          </a:p>
          <a:p>
            <a:pPr lvl="1"/>
            <a:r>
              <a:rPr lang="de-DE" dirty="0"/>
              <a:t>Maximalwert: 144</a:t>
            </a:r>
          </a:p>
          <a:p>
            <a:pPr lvl="1"/>
            <a:r>
              <a:rPr lang="de-DE" dirty="0"/>
              <a:t>Älteste bekannte Person im Digitalen Zeitalter: Jeanne </a:t>
            </a:r>
            <a:r>
              <a:rPr lang="de-DE" dirty="0" err="1"/>
              <a:t>Calment</a:t>
            </a:r>
            <a:r>
              <a:rPr lang="de-DE" dirty="0"/>
              <a:t> 122 Jahre</a:t>
            </a:r>
          </a:p>
          <a:p>
            <a:pPr lvl="1"/>
            <a:r>
              <a:rPr lang="de-DE" dirty="0"/>
              <a:t>Alle darüber wurden gelöscht (5 Werte)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CF82D0-4888-8161-5F4A-04AF7456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8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A5F6F-AE67-3CC0-4B54-9E440E40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Engineering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192E63-F1B3-554A-DE81-F5AAD0983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Erstellen von Dummy Variablen</a:t>
            </a:r>
          </a:p>
          <a:p>
            <a:r>
              <a:rPr lang="de-DE" dirty="0"/>
              <a:t>Annuität</a:t>
            </a:r>
          </a:p>
          <a:p>
            <a:pPr lvl="1"/>
            <a:r>
              <a:rPr lang="de-DE" dirty="0"/>
              <a:t>Es fehlt: Laufzeit</a:t>
            </a:r>
          </a:p>
          <a:p>
            <a:pPr lvl="1"/>
            <a:r>
              <a:rPr lang="de-DE" dirty="0"/>
              <a:t>Annahme für die Laufzeit: 10 Jahre für alle Kredite</a:t>
            </a:r>
          </a:p>
          <a:p>
            <a:r>
              <a:rPr lang="de-DE" dirty="0"/>
              <a:t>Annuität pro Jahreseinkommen</a:t>
            </a:r>
          </a:p>
          <a:p>
            <a:pPr lvl="1"/>
            <a:r>
              <a:rPr lang="de-DE" dirty="0"/>
              <a:t>Wie viel Prozent meines Jahreseinkommens muss ich für die Kredittilgung zurück zahlen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EC9297-6743-893D-6A69-5721B34E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4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A09A5-9747-4B7D-6A6A-207A621E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Ist der momentane Risiko Bewertungsprozess ineffizient?</a:t>
            </a:r>
          </a:p>
        </p:txBody>
      </p:sp>
      <p:graphicFrame>
        <p:nvGraphicFramePr>
          <p:cNvPr id="9" name="Objekt 8">
            <a:extLst>
              <a:ext uri="{FF2B5EF4-FFF2-40B4-BE49-F238E27FC236}">
                <a16:creationId xmlns:a16="http://schemas.microsoft.com/office/drawing/2014/main" id="{5118EA1F-E3E5-5844-82E1-3339C7261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141243"/>
              </p:ext>
            </p:extLst>
          </p:nvPr>
        </p:nvGraphicFramePr>
        <p:xfrm>
          <a:off x="412364" y="3934373"/>
          <a:ext cx="6118225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18825" imgH="1478359" progId="Excel.Sheet.12">
                  <p:embed/>
                </p:oleObj>
              </mc:Choice>
              <mc:Fallback>
                <p:oleObj name="Worksheet" r:id="rId2" imgW="6118825" imgH="14783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2364" y="3934373"/>
                        <a:ext cx="6118225" cy="1477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FC972D0-D7E2-B81B-BE9E-A408231C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2" name="Objekt 11">
            <a:extLst>
              <a:ext uri="{FF2B5EF4-FFF2-40B4-BE49-F238E27FC236}">
                <a16:creationId xmlns:a16="http://schemas.microsoft.com/office/drawing/2014/main" id="{AF84A57D-7F6D-6EEA-1733-F4C7BECB8E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434112"/>
              </p:ext>
            </p:extLst>
          </p:nvPr>
        </p:nvGraphicFramePr>
        <p:xfrm>
          <a:off x="412364" y="2441447"/>
          <a:ext cx="11199642" cy="12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3144394" imgH="1478359" progId="Excel.Sheet.12">
                  <p:embed/>
                </p:oleObj>
              </mc:Choice>
              <mc:Fallback>
                <p:oleObj name="Worksheet" r:id="rId4" imgW="13144394" imgH="14783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364" y="2441447"/>
                        <a:ext cx="11199642" cy="126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9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4E03E-8F8C-BB6A-F503-00752EF4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Pearson Korrelationskoeffizient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705826F-B094-7676-6FE2-AE1C348DE7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450" y="2578100"/>
            <a:ext cx="8971450" cy="376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FF4CF60-8AF9-A62D-5822-0168B269DF5B}"/>
              </a:ext>
            </a:extLst>
          </p:cNvPr>
          <p:cNvSpPr txBox="1"/>
          <p:nvPr/>
        </p:nvSpPr>
        <p:spPr>
          <a:xfrm>
            <a:off x="1613450" y="6345238"/>
            <a:ext cx="615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Quelle: Wikipedia Artikel zum Pearson </a:t>
            </a:r>
            <a:r>
              <a:rPr lang="de-DE" dirty="0" err="1"/>
              <a:t>Korrelationkoeffizient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E1216D-200A-CBC9-35D5-A73A4B66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A9E2A-6E50-9CFB-F3F4-E1DC1C7C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Ist der momentane Risiko Bewertungsprozess ineffizient?</a:t>
            </a:r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8DF68459-ECF6-36ED-7681-0A2D4BE96C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845172"/>
              </p:ext>
            </p:extLst>
          </p:nvPr>
        </p:nvGraphicFramePr>
        <p:xfrm>
          <a:off x="521208" y="2966935"/>
          <a:ext cx="11155679" cy="924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28283" imgH="563770" progId="Excel.Sheet.12">
                  <p:embed/>
                </p:oleObj>
              </mc:Choice>
              <mc:Fallback>
                <p:oleObj name="Worksheet" r:id="rId2" imgW="6728283" imgH="56377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1208" y="2966935"/>
                        <a:ext cx="11155679" cy="924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kt 6">
            <a:extLst>
              <a:ext uri="{FF2B5EF4-FFF2-40B4-BE49-F238E27FC236}">
                <a16:creationId xmlns:a16="http://schemas.microsoft.com/office/drawing/2014/main" id="{FE1FB060-FE1A-C39D-54C8-F38B923462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307250"/>
              </p:ext>
            </p:extLst>
          </p:nvPr>
        </p:nvGraphicFramePr>
        <p:xfrm>
          <a:off x="521207" y="4416553"/>
          <a:ext cx="11155680" cy="980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08455" imgH="563770" progId="Excel.Sheet.12">
                  <p:embed/>
                </p:oleObj>
              </mc:Choice>
              <mc:Fallback>
                <p:oleObj name="Worksheet" r:id="rId4" imgW="6408455" imgH="56377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1207" y="4416553"/>
                        <a:ext cx="11155680" cy="980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8340BFD-AB52-4DAC-DF80-A20F41F7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04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73B56-3F68-5128-9750-360C8F2B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neues Modell entwickeln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DDE6CB2-0A2B-2AFA-1152-E38948183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Idee: Ein Scoring entwickeln, welches auf den Daten basiert und sie nach dem Korrelationskoeffizienten gewichtet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Konzept mathematisch: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/>
                        <m:t>𝑆𝑐𝑜𝑟𝑖𝑛𝑔</m:t>
                      </m:r>
                      <m:r>
                        <a:rPr lang="de-DE" i="1"/>
                        <m:t> </m:t>
                      </m:r>
                      <m:r>
                        <a:rPr lang="de-DE" i="1"/>
                        <m:t>𝑊𝑒𝑟𝑡</m:t>
                      </m:r>
                      <m:r>
                        <a:rPr lang="de-DE" i="1"/>
                        <m:t>=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𝐹𝑎𝑘𝑡𝑜𝑟</m:t>
                          </m:r>
                        </m:e>
                        <m:sub>
                          <m:r>
                            <a:rPr lang="de-DE" i="1"/>
                            <m:t>1</m:t>
                          </m:r>
                        </m:sub>
                      </m:sSub>
                      <m:r>
                        <a:rPr lang="de-DE" i="1"/>
                        <m:t>∗ 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𝑟</m:t>
                          </m:r>
                        </m:e>
                        <m:sub>
                          <m:r>
                            <a:rPr lang="de-DE" i="1"/>
                            <m:t>1,</m:t>
                          </m:r>
                          <m:r>
                            <a:rPr lang="de-DE" i="1"/>
                            <m:t>𝐴𝑢𝑠𝑓𝑎𝑙𝑙𝑟𝑖𝑠𝑖𝑘𝑜</m:t>
                          </m:r>
                        </m:sub>
                      </m:sSub>
                      <m:r>
                        <a:rPr lang="de-DE" i="1"/>
                        <m:t>+ 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𝐹𝑎𝑘𝑡𝑜𝑟</m:t>
                          </m:r>
                        </m:e>
                        <m:sub>
                          <m:r>
                            <a:rPr lang="de-DE" i="1"/>
                            <m:t>2</m:t>
                          </m:r>
                        </m:sub>
                      </m:sSub>
                      <m:r>
                        <a:rPr lang="de-DE" i="1"/>
                        <m:t>∗ 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𝑟</m:t>
                          </m:r>
                        </m:e>
                        <m:sub>
                          <m:r>
                            <a:rPr lang="de-DE" i="1"/>
                            <m:t>2, </m:t>
                          </m:r>
                          <m:r>
                            <a:rPr lang="de-DE" i="1"/>
                            <m:t>𝐴𝑢𝑠𝑓𝑎𝑙𝑙𝑟𝑖𝑠𝑖𝑘𝑜</m:t>
                          </m:r>
                        </m:sub>
                      </m:sSub>
                      <m:r>
                        <a:rPr lang="de-DE" i="1"/>
                        <m:t>+…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Also in unserem Datensatz: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/>
                        <m:t>𝑆𝑐𝑜𝑟𝑖𝑛𝑔</m:t>
                      </m:r>
                      <m:r>
                        <a:rPr lang="de-DE" i="1"/>
                        <m:t> </m:t>
                      </m:r>
                      <m:r>
                        <a:rPr lang="de-DE" i="1"/>
                        <m:t>𝑊𝑒𝑟𝑡</m:t>
                      </m:r>
                      <m:r>
                        <a:rPr lang="de-DE" i="1"/>
                        <m:t>=</m:t>
                      </m:r>
                      <m:r>
                        <a:rPr lang="de-DE" i="1"/>
                        <m:t>𝐸𝑖𝑛𝑘𝑜𝑚𝑚𝑒𝑛</m:t>
                      </m:r>
                      <m:r>
                        <a:rPr lang="de-DE" i="1"/>
                        <m:t>∗ 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𝑟</m:t>
                          </m:r>
                        </m:e>
                        <m:sub>
                          <m:r>
                            <a:rPr lang="de-DE" i="1"/>
                            <m:t>𝐸𝑖𝑛𝑘𝑜𝑚𝑚𝑒𝑛</m:t>
                          </m:r>
                          <m:r>
                            <a:rPr lang="de-DE" i="1"/>
                            <m:t>,</m:t>
                          </m:r>
                          <m:r>
                            <a:rPr lang="de-DE" i="1"/>
                            <m:t>𝐴𝑢𝑠𝑓𝑎𝑙𝑙𝑟𝑖𝑠𝑖𝑘𝑜</m:t>
                          </m:r>
                        </m:sub>
                      </m:sSub>
                      <m:r>
                        <a:rPr lang="de-DE" i="1"/>
                        <m:t>+ </m:t>
                      </m:r>
                      <m:r>
                        <a:rPr lang="de-DE" i="1"/>
                        <m:t>𝐵𝑒𝑠𝑐h</m:t>
                      </m:r>
                      <m:r>
                        <a:rPr lang="de-DE" i="1"/>
                        <m:t>ä</m:t>
                      </m:r>
                      <m:r>
                        <a:rPr lang="de-DE" i="1"/>
                        <m:t>𝑓𝑡𝑖𝑔𝑢𝑛𝑔</m:t>
                      </m:r>
                      <m:r>
                        <a:rPr lang="de-DE" i="1"/>
                        <m:t>∗ 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𝑟</m:t>
                          </m:r>
                        </m:e>
                        <m:sub>
                          <m:r>
                            <a:rPr lang="de-DE" i="1"/>
                            <m:t>𝐵𝑒𝑠𝑐h</m:t>
                          </m:r>
                          <m:r>
                            <a:rPr lang="de-DE" i="1"/>
                            <m:t>ä</m:t>
                          </m:r>
                          <m:r>
                            <a:rPr lang="de-DE" i="1"/>
                            <m:t>𝑓𝑡𝑖𝑔𝑢𝑛𝑔</m:t>
                          </m:r>
                          <m:r>
                            <a:rPr lang="de-DE" i="1"/>
                            <m:t>, </m:t>
                          </m:r>
                          <m:r>
                            <a:rPr lang="de-DE" i="1"/>
                            <m:t>𝐴𝑢𝑠𝑓𝑎𝑙𝑙𝑟𝑖𝑠𝑖𝑘𝑜</m:t>
                          </m:r>
                        </m:sub>
                      </m:sSub>
                      <m:r>
                        <a:rPr lang="de-DE" i="1"/>
                        <m:t>+…</m:t>
                      </m:r>
                    </m:oMath>
                  </m:oMathPara>
                </a14:m>
                <a:endParaRPr lang="de-DE" dirty="0"/>
              </a:p>
              <a:p>
                <a:pPr marL="0" indent="0" algn="ctr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DDE6CB2-0A2B-2AFA-1152-E38948183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F139EA-7859-A007-5E7A-E97E3222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0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E8052-9338-6013-8ADA-C1359A5F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Problem: Einheiten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42172C-8A0B-AF7F-10E6-21F8D4B96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 sind sehr verschieden und nicht vergleichbar.</a:t>
            </a:r>
          </a:p>
          <a:p>
            <a:r>
              <a:rPr lang="de-DE" dirty="0"/>
              <a:t>Beispielwerte:</a:t>
            </a:r>
          </a:p>
          <a:p>
            <a:pPr lvl="1"/>
            <a:r>
              <a:rPr lang="de-DE" dirty="0"/>
              <a:t>Einkommen 45000</a:t>
            </a:r>
          </a:p>
          <a:p>
            <a:pPr lvl="1"/>
            <a:r>
              <a:rPr lang="de-DE" dirty="0"/>
              <a:t>Zuvor Kredit ausgefallen 1</a:t>
            </a:r>
          </a:p>
          <a:p>
            <a:pPr lvl="1"/>
            <a:r>
              <a:rPr lang="de-DE" dirty="0"/>
              <a:t>Kredit Historie 4</a:t>
            </a:r>
          </a:p>
          <a:p>
            <a:pPr lvl="1"/>
            <a:r>
              <a:rPr lang="de-DE" dirty="0"/>
              <a:t>Kredithöhe / Einkommen 0.48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B4C642-B0A1-A092-08E2-EB60FC2F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5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12BFEB-DCD6-5A1F-8681-4FFF43E3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de-DE" sz="2800"/>
              <a:t>Lösung: Standardisierung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79DEF0-9E29-5EAD-91D3-E59EDA2CF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n-US" dirty="0" err="1"/>
              <a:t>Beispielwerte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Einkommen</a:t>
            </a:r>
            <a:r>
              <a:rPr lang="en-US" dirty="0"/>
              <a:t>: 1.3</a:t>
            </a:r>
          </a:p>
          <a:p>
            <a:pPr lvl="1"/>
            <a:r>
              <a:rPr lang="de-DE" dirty="0"/>
              <a:t>Zuvor Kredit ausgefallen: 1</a:t>
            </a:r>
          </a:p>
          <a:p>
            <a:pPr lvl="1"/>
            <a:r>
              <a:rPr lang="de-DE" dirty="0"/>
              <a:t>Kredit Historie 0.8</a:t>
            </a:r>
          </a:p>
          <a:p>
            <a:pPr lvl="1"/>
            <a:r>
              <a:rPr lang="de-DE" dirty="0"/>
              <a:t>Kredithöhe / Einkommen 1.1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Inhaltsplatzhalter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58A13B79-0931-1D95-9DC8-AD3C6785C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" r="4328" b="-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BFF313-215F-4C61-B181-3672FB1B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0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776C8-3D12-7F6F-233C-93AEB932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531AEB-2D29-27A3-0705-5437B0855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D3504A-D437-D607-7515-C6DBE29F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de-DE" sz="2800" dirty="0"/>
              <a:t>Linkssteile Verteilungen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AB911E7-B2CD-2906-7490-00D4EB41A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0E217E-7697-CF16-D326-C09955F4B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pPr lvl="1"/>
            <a:r>
              <a:rPr lang="en-US" dirty="0" err="1"/>
              <a:t>Schiefverteilungen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dem </a:t>
            </a:r>
            <a:r>
              <a:rPr lang="en-US" dirty="0" err="1"/>
              <a:t>standardisieren</a:t>
            </a:r>
            <a:r>
              <a:rPr lang="en-US" dirty="0"/>
              <a:t> </a:t>
            </a:r>
            <a:r>
              <a:rPr lang="en-US" dirty="0" err="1"/>
              <a:t>normalisieren</a:t>
            </a:r>
            <a:endParaRPr lang="en-US" dirty="0"/>
          </a:p>
          <a:p>
            <a:pPr lvl="1"/>
            <a:r>
              <a:rPr lang="en-US" dirty="0" err="1"/>
              <a:t>Normalisierung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Logarithmierung</a:t>
            </a:r>
            <a:endParaRPr lang="en-US" dirty="0"/>
          </a:p>
          <a:p>
            <a:pPr lvl="1"/>
            <a:r>
              <a:rPr lang="en-US" dirty="0"/>
              <a:t>Methode </a:t>
            </a:r>
            <a:r>
              <a:rPr lang="en-US" dirty="0" err="1"/>
              <a:t>besonders</a:t>
            </a:r>
            <a:r>
              <a:rPr lang="en-US" dirty="0"/>
              <a:t> stark </a:t>
            </a:r>
            <a:r>
              <a:rPr lang="en-US" dirty="0" err="1"/>
              <a:t>gegen</a:t>
            </a:r>
            <a:r>
              <a:rPr lang="en-US" dirty="0"/>
              <a:t> </a:t>
            </a:r>
            <a:r>
              <a:rPr lang="en-US" dirty="0" err="1"/>
              <a:t>Ausreißer</a:t>
            </a:r>
            <a:r>
              <a:rPr lang="en-US" dirty="0"/>
              <a:t> und </a:t>
            </a:r>
            <a:r>
              <a:rPr lang="en-US" dirty="0" err="1"/>
              <a:t>linkssteile</a:t>
            </a:r>
            <a:r>
              <a:rPr lang="en-US" dirty="0"/>
              <a:t> Tendenzen</a:t>
            </a:r>
          </a:p>
          <a:p>
            <a:endParaRPr lang="en-US" dirty="0"/>
          </a:p>
        </p:txBody>
      </p:sp>
      <p:graphicFrame>
        <p:nvGraphicFramePr>
          <p:cNvPr id="3" name="Inhaltsplatzhalter 8">
            <a:extLst>
              <a:ext uri="{FF2B5EF4-FFF2-40B4-BE49-F238E27FC236}">
                <a16:creationId xmlns:a16="http://schemas.microsoft.com/office/drawing/2014/main" id="{A1A749C5-ABA6-A8B2-329F-6C820598BF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1618803"/>
              </p:ext>
            </p:extLst>
          </p:nvPr>
        </p:nvGraphicFramePr>
        <p:xfrm>
          <a:off x="4612193" y="1874113"/>
          <a:ext cx="7058599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A42191-71B3-112E-F335-B5251168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7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6D36D0-6BB3-D51A-BE6B-1D927ED3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de-DE" dirty="0"/>
              <a:t>Sechs gleich große Kategorien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79D059-5775-81C3-CFE4-234BCA77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de-DE" dirty="0"/>
              <a:t>Der Scoring Wert wird in Sechs gleich große Kategorien aufgeteilt</a:t>
            </a:r>
          </a:p>
          <a:p>
            <a:r>
              <a:rPr lang="de-DE" dirty="0"/>
              <a:t>Die Werte sind nicht interpretierbar außer, dass sie eine Reihenfolge der einzelnen Kreditvergabe für die Risikobewertung widerspiegeln</a:t>
            </a:r>
          </a:p>
          <a:p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362B24E-373D-3B33-8D8E-BEAEF7157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645353"/>
              </p:ext>
            </p:extLst>
          </p:nvPr>
        </p:nvGraphicFramePr>
        <p:xfrm>
          <a:off x="7306492" y="1375819"/>
          <a:ext cx="4364592" cy="457960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467600">
                  <a:extLst>
                    <a:ext uri="{9D8B030D-6E8A-4147-A177-3AD203B41FA5}">
                      <a16:colId xmlns:a16="http://schemas.microsoft.com/office/drawing/2014/main" val="3521864871"/>
                    </a:ext>
                  </a:extLst>
                </a:gridCol>
                <a:gridCol w="1431792">
                  <a:extLst>
                    <a:ext uri="{9D8B030D-6E8A-4147-A177-3AD203B41FA5}">
                      <a16:colId xmlns:a16="http://schemas.microsoft.com/office/drawing/2014/main" val="55476690"/>
                    </a:ext>
                  </a:extLst>
                </a:gridCol>
                <a:gridCol w="1465200">
                  <a:extLst>
                    <a:ext uri="{9D8B030D-6E8A-4147-A177-3AD203B41FA5}">
                      <a16:colId xmlns:a16="http://schemas.microsoft.com/office/drawing/2014/main" val="2314589401"/>
                    </a:ext>
                  </a:extLst>
                </a:gridCol>
              </a:tblGrid>
              <a:tr h="1058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28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Gruppe</a:t>
                      </a:r>
                      <a:endParaRPr lang="de-DE" sz="2800" b="0" i="0" u="none" strike="noStrike" cap="none" spc="6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7194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28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Untere Grenze</a:t>
                      </a:r>
                      <a:endParaRPr lang="de-DE" sz="2800" b="0" i="0" u="none" strike="noStrike" cap="none" spc="6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7194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28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Obere Grenze</a:t>
                      </a:r>
                      <a:endParaRPr lang="de-DE" sz="2800" b="0" i="0" u="none" strike="noStrike" cap="none" spc="6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7194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391861"/>
                  </a:ext>
                </a:extLst>
              </a:tr>
              <a:tr h="5868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-2.2341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-1.3515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161701"/>
                  </a:ext>
                </a:extLst>
              </a:tr>
              <a:tr h="5868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-1.3514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-0.4687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93206"/>
                  </a:ext>
                </a:extLst>
              </a:tr>
              <a:tr h="5868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-0.4686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0.4141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144627"/>
                  </a:ext>
                </a:extLst>
              </a:tr>
              <a:tr h="5868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0.4142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1.2968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43345"/>
                  </a:ext>
                </a:extLst>
              </a:tr>
              <a:tr h="5868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1.2969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2.1796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17596"/>
                  </a:ext>
                </a:extLst>
              </a:tr>
              <a:tr h="5868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2.1797</a:t>
                      </a:r>
                      <a:endParaRPr lang="de-DE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de-DE" sz="2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3.0618</a:t>
                      </a:r>
                      <a:endParaRPr lang="de-DE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5969" marR="22661" marT="15719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005389"/>
                  </a:ext>
                </a:extLst>
              </a:tr>
            </a:tbl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84664-E2AC-B178-AACA-D1F9075D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27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797E0-0570-4284-B9E7-59480A88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Modellvergleich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99409AB4-3275-CB72-6973-67F622BDE6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97304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69E94D-49BC-7A33-5B13-13212365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3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81B8A-A800-ED7D-6A28-A3A51B1E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Modellvergleich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EC73E70D-9758-92EF-9B4E-B7530D893D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66B923-AB6F-E25E-BEA9-697AE0D3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1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F1B561-23F8-4920-A2C0-7CC49CB1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Minimaler Zinssatz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E3859F7-F3A6-FC4E-7BFB-1C3A62ED7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Annahme: Laufzeit = 10 Jahre</a:t>
                </a:r>
              </a:p>
              <a:p>
                <a:r>
                  <a:rPr lang="de-DE" dirty="0"/>
                  <a:t>Kapitalwert Formel: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𝐾</m:t>
                          </m:r>
                        </m:e>
                        <m:sub>
                          <m:r>
                            <a:rPr lang="de-DE" i="1"/>
                            <m:t>𝑡</m:t>
                          </m:r>
                        </m:sub>
                      </m:sSub>
                      <m:r>
                        <a:rPr lang="de-DE" i="1"/>
                        <m:t>=</m:t>
                      </m:r>
                      <m:sSup>
                        <m:sSupPr>
                          <m:ctrlPr>
                            <a:rPr lang="de-DE" i="1"/>
                          </m:ctrlPr>
                        </m:sSupPr>
                        <m:e>
                          <m:r>
                            <a:rPr lang="de-DE" i="1"/>
                            <m:t>(1+</m:t>
                          </m:r>
                          <m:r>
                            <a:rPr lang="de-DE" i="1"/>
                            <m:t>𝑟</m:t>
                          </m:r>
                          <m:r>
                            <a:rPr lang="de-DE" i="1"/>
                            <m:t>)</m:t>
                          </m:r>
                        </m:e>
                        <m:sup>
                          <m:r>
                            <a:rPr lang="de-DE" i="1"/>
                            <m:t>𝑡</m:t>
                          </m:r>
                        </m:sup>
                      </m:sSup>
                      <m:r>
                        <a:rPr lang="de-DE" i="1"/>
                        <m:t>∗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𝐾</m:t>
                          </m:r>
                        </m:e>
                        <m:sub>
                          <m:r>
                            <a:rPr lang="de-DE" i="1"/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/>
                        </m:ctrlPr>
                      </m:sSubPr>
                      <m:e>
                        <m:r>
                          <a:rPr lang="de-DE" i="1"/>
                          <m:t>𝐾</m:t>
                        </m:r>
                      </m:e>
                      <m:sub>
                        <m:r>
                          <a:rPr lang="de-DE" i="1"/>
                          <m:t>𝑡</m:t>
                        </m:r>
                      </m:sub>
                    </m:sSub>
                  </m:oMath>
                </a14:m>
                <a:r>
                  <a:rPr lang="de-DE" dirty="0"/>
                  <a:t> = erhaltenes Kapital am Ende der Laufzeit, r = Kreditzinssatz, t = Laufzeit,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/>
                        </m:ctrlPr>
                      </m:sSubPr>
                      <m:e>
                        <m:r>
                          <a:rPr lang="de-DE" i="1"/>
                          <m:t>𝐾</m:t>
                        </m:r>
                      </m:e>
                      <m:sub>
                        <m:r>
                          <a:rPr lang="de-DE" i="1"/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= Kredithöhe</a:t>
                </a:r>
              </a:p>
              <a:p>
                <a:r>
                  <a:rPr lang="de-DE" dirty="0"/>
                  <a:t>Kapitalwert Formel nach r aufgelöst: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/>
                        <m:t>𝑟</m:t>
                      </m:r>
                      <m:r>
                        <a:rPr lang="de-DE" i="1"/>
                        <m:t>=</m:t>
                      </m:r>
                      <m:sSup>
                        <m:sSupPr>
                          <m:ctrlPr>
                            <a:rPr lang="de-DE" i="1"/>
                          </m:ctrlPr>
                        </m:sSupPr>
                        <m:e>
                          <m:r>
                            <a:rPr lang="de-DE" i="1"/>
                            <m:t>(</m:t>
                          </m:r>
                          <m:f>
                            <m:fPr>
                              <m:ctrlPr>
                                <a:rPr lang="de-DE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i="1"/>
                                  </m:ctrlPr>
                                </m:sSubPr>
                                <m:e>
                                  <m:r>
                                    <a:rPr lang="de-DE" i="1"/>
                                    <m:t>𝐾</m:t>
                                  </m:r>
                                </m:e>
                                <m:sub>
                                  <m:r>
                                    <a:rPr lang="de-DE" i="1"/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i="1"/>
                                  </m:ctrlPr>
                                </m:sSubPr>
                                <m:e>
                                  <m:r>
                                    <a:rPr lang="de-DE" i="1"/>
                                    <m:t>𝐾</m:t>
                                  </m:r>
                                </m:e>
                                <m:sub>
                                  <m:r>
                                    <a:rPr lang="de-DE" i="1"/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de-DE" i="1"/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de-DE" i="1"/>
                              </m:ctrlPr>
                            </m:fPr>
                            <m:num>
                              <m:r>
                                <a:rPr lang="de-DE" i="1"/>
                                <m:t>1</m:t>
                              </m:r>
                            </m:num>
                            <m:den>
                              <m:r>
                                <a:rPr lang="de-DE" i="1"/>
                                <m:t>𝑡</m:t>
                              </m:r>
                            </m:den>
                          </m:f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/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/>
                        <m:t>1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E3859F7-F3A6-FC4E-7BFB-1C3A62ED7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693849-E49E-58F7-8091-FEECF6E1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37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01C2D-B25A-A098-8B6E-85C793E8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Minimaler Zinssatz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FA01823-A066-DC78-EFFF-8C332102C5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de-DE" dirty="0"/>
                  <a:t>Wir wollen einen risikoeliminierenden Zinssatz festlegen</a:t>
                </a:r>
              </a:p>
              <a:p>
                <a:pPr lvl="1"/>
                <a:r>
                  <a:rPr lang="de-DE" dirty="0"/>
                  <a:t>Opportunitätskosten: Anlage in eine Staatsanleihe bei der Zentralbank</a:t>
                </a:r>
              </a:p>
              <a:p>
                <a:pPr lvl="2"/>
                <a:r>
                  <a:rPr lang="de-DE" dirty="0"/>
                  <a:t>EZB: Leitzins liegt bei 2% fortan an </a:t>
                </a:r>
                <a:r>
                  <a:rPr lang="de-DE" b="1" dirty="0"/>
                  <a:t>i</a:t>
                </a:r>
                <a:r>
                  <a:rPr lang="de-DE" dirty="0"/>
                  <a:t> definiert</a:t>
                </a:r>
              </a:p>
              <a:p>
                <a:pPr lvl="1"/>
                <a:r>
                  <a:rPr lang="de-DE" dirty="0"/>
                  <a:t>Wir wissen nicht, wie viel Prozent die Schuldner, die Bankrott gehen, zurückzahlen</a:t>
                </a:r>
              </a:p>
              <a:p>
                <a:pPr lvl="2"/>
                <a:r>
                  <a:rPr lang="de-DE" dirty="0"/>
                  <a:t>Wir nehmen an, dies sei 50%</a:t>
                </a:r>
              </a:p>
              <a:p>
                <a:r>
                  <a:rPr lang="de-DE" dirty="0"/>
                  <a:t>Das bedeutet also: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𝐾</m:t>
                          </m:r>
                        </m:e>
                        <m:sub>
                          <m:r>
                            <a:rPr lang="de-DE" i="1"/>
                            <m:t>𝑡</m:t>
                          </m:r>
                        </m:sub>
                      </m:sSub>
                      <m:r>
                        <a:rPr lang="de-DE" i="1"/>
                        <m:t>=</m:t>
                      </m:r>
                      <m:sSup>
                        <m:sSupPr>
                          <m:ctrlPr>
                            <a:rPr lang="de-DE" i="1"/>
                          </m:ctrlPr>
                        </m:sSupPr>
                        <m:e>
                          <m:r>
                            <a:rPr lang="de-DE" i="1"/>
                            <m:t>(1+</m:t>
                          </m:r>
                          <m:f>
                            <m:fPr>
                              <m:ctrlPr>
                                <a:rPr lang="de-DE" i="1"/>
                              </m:ctrlPr>
                            </m:fPr>
                            <m:num>
                              <m:r>
                                <a:rPr lang="de-DE" i="1"/>
                                <m:t>𝑝</m:t>
                              </m:r>
                            </m:num>
                            <m:den>
                              <m:r>
                                <a:rPr lang="de-DE" i="1"/>
                                <m:t>2</m:t>
                              </m:r>
                            </m:den>
                          </m:f>
                          <m:r>
                            <a:rPr lang="de-DE" i="1"/>
                            <m:t>+</m:t>
                          </m:r>
                          <m:r>
                            <a:rPr lang="de-DE" i="1"/>
                            <m:t>𝑖</m:t>
                          </m:r>
                          <m:r>
                            <a:rPr lang="de-DE" i="1"/>
                            <m:t>)</m:t>
                          </m:r>
                        </m:e>
                        <m:sup>
                          <m:r>
                            <a:rPr lang="de-DE" i="1"/>
                            <m:t>𝑡</m:t>
                          </m:r>
                        </m:sup>
                      </m:sSup>
                      <m:r>
                        <a:rPr lang="de-DE" i="1"/>
                        <m:t>∗</m:t>
                      </m:r>
                      <m:sSub>
                        <m:sSubPr>
                          <m:ctrlPr>
                            <a:rPr lang="de-DE" i="1"/>
                          </m:ctrlPr>
                        </m:sSubPr>
                        <m:e>
                          <m:r>
                            <a:rPr lang="de-DE" i="1"/>
                            <m:t>𝐾</m:t>
                          </m:r>
                        </m:e>
                        <m:sub>
                          <m:r>
                            <a:rPr lang="de-DE" i="1"/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r>
                  <a:rPr lang="de-DE" dirty="0"/>
                  <a:t>…wobei </a:t>
                </a:r>
                <a:r>
                  <a:rPr lang="de-DE" b="1" dirty="0"/>
                  <a:t>p</a:t>
                </a:r>
                <a:r>
                  <a:rPr lang="de-DE" dirty="0"/>
                  <a:t> das Ausfallrisiko pro Risikoklasse beschreibt</a:t>
                </a:r>
              </a:p>
              <a:p>
                <a:r>
                  <a:rPr lang="de-DE" dirty="0"/>
                  <a:t>Setzt man das in die Formel ein und löst so weit wie möglich auf, dann erhält man: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/>
                        <m:t>𝑟</m:t>
                      </m:r>
                      <m:r>
                        <a:rPr lang="de-DE" i="1"/>
                        <m:t>= </m:t>
                      </m:r>
                      <m:f>
                        <m:fPr>
                          <m:ctrlPr>
                            <a:rPr lang="de-DE" i="1"/>
                          </m:ctrlPr>
                        </m:fPr>
                        <m:num>
                          <m:r>
                            <a:rPr lang="de-DE" i="1"/>
                            <m:t>𝑝</m:t>
                          </m:r>
                        </m:num>
                        <m:den>
                          <m:r>
                            <a:rPr lang="de-DE" i="1"/>
                            <m:t>2</m:t>
                          </m:r>
                        </m:den>
                      </m:f>
                      <m:r>
                        <a:rPr lang="de-DE" i="1"/>
                        <m:t>+</m:t>
                      </m:r>
                      <m:r>
                        <a:rPr lang="de-DE" i="1"/>
                        <m:t>𝑖</m:t>
                      </m:r>
                    </m:oMath>
                  </m:oMathPara>
                </a14:m>
                <a:endParaRPr lang="de-DE" dirty="0"/>
              </a:p>
              <a:p>
                <a:pPr marL="0" indent="0" algn="ctr">
                  <a:buNone/>
                </a:pPr>
                <a:endParaRPr lang="de-DE" dirty="0"/>
              </a:p>
              <a:p>
                <a:pPr algn="ctr"/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FA01823-A066-DC78-EFFF-8C332102C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3" t="-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B42974-1C66-08BA-B7F2-1A488F05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59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ED5C5-58A0-5B30-E6B0-3BD3879E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Fatales Kreditausfallrisiko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00423F6-BA44-26AD-B4A7-4885C40A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5335674"/>
            <a:ext cx="11155680" cy="1010261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Alle Kategorien unter 10 weisen ein sehr starkes Kreditausfallrisiko auf</a:t>
            </a:r>
          </a:p>
          <a:p>
            <a:r>
              <a:rPr lang="de-DE" dirty="0"/>
              <a:t>Es wird daher empfohlen, keine Kredite mehr zuzulassen, bei denen Kreditnehmer mehr als 4,3% ihres Jahreseinkommens im Jahr zurückzahlen müssen</a:t>
            </a:r>
          </a:p>
        </p:txBody>
      </p:sp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4CD551C3-DB14-E46B-8282-904E3EB197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094594"/>
              </p:ext>
            </p:extLst>
          </p:nvPr>
        </p:nvGraphicFramePr>
        <p:xfrm>
          <a:off x="1688122" y="1738365"/>
          <a:ext cx="9033469" cy="3516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D5FDE9C-C9BD-351F-FB92-0B4FA8B9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4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FD9B2-BA2D-99FF-48D0-C1D9C5BA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Neues Modell Zinsrate pro Kategorie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E0492C87-A142-2E49-A570-9699DE3E2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67101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003019-FBAA-A799-5954-D9DEFC45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5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16800D-31C7-5444-4B2D-45ABAF88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Gewinnvergleich Neues Modell mit neuer Zinsrechnung </a:t>
            </a:r>
            <a:r>
              <a:rPr lang="de-DE" dirty="0" err="1"/>
              <a:t>vs</a:t>
            </a:r>
            <a:r>
              <a:rPr lang="de-DE" dirty="0"/>
              <a:t> Altes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2D83B0-AE0B-E262-9A3D-555FFBCB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Neues Modell:					Altes Modell: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77287247-38FC-A614-8CCE-6F0749B41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843026"/>
              </p:ext>
            </p:extLst>
          </p:nvPr>
        </p:nvGraphicFramePr>
        <p:xfrm>
          <a:off x="601714" y="3157138"/>
          <a:ext cx="4982798" cy="155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83274" imgH="1303161" progId="Excel.Sheet.12">
                  <p:embed/>
                </p:oleObj>
              </mc:Choice>
              <mc:Fallback>
                <p:oleObj name="Worksheet" r:id="rId2" imgW="4183274" imgH="13031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1714" y="3157138"/>
                        <a:ext cx="4982798" cy="1552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>
            <a:extLst>
              <a:ext uri="{FF2B5EF4-FFF2-40B4-BE49-F238E27FC236}">
                <a16:creationId xmlns:a16="http://schemas.microsoft.com/office/drawing/2014/main" id="{6FB02AC4-B4E0-8C20-9ED0-880D4147C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010011"/>
              </p:ext>
            </p:extLst>
          </p:nvPr>
        </p:nvGraphicFramePr>
        <p:xfrm>
          <a:off x="6096000" y="3157138"/>
          <a:ext cx="5145088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183274" imgH="1668827" progId="Excel.Sheet.12">
                  <p:embed/>
                </p:oleObj>
              </mc:Choice>
              <mc:Fallback>
                <p:oleObj name="Worksheet" r:id="rId4" imgW="4183274" imgH="16688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0" y="3157138"/>
                        <a:ext cx="5145088" cy="205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7C4443-EC86-8877-C70D-95DD0416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15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A25B16-4333-500A-5E94-FA08512B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Gewinnvergleich Neues Modell mit Neuer Zinsrechnung </a:t>
            </a:r>
            <a:r>
              <a:rPr lang="de-DE" dirty="0" err="1"/>
              <a:t>vs</a:t>
            </a:r>
            <a:r>
              <a:rPr lang="de-DE" dirty="0"/>
              <a:t> Altes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DF5BB0-E8DA-13CB-1E56-E5A8EB8C2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Obwohl weniger Kredite vergeben werden, hat sich die Effizienz klar gesteigert</a:t>
            </a:r>
          </a:p>
          <a:p>
            <a:r>
              <a:rPr lang="de-DE" dirty="0"/>
              <a:t>Die Gewinne haben sich um 467% gesteigert</a:t>
            </a:r>
          </a:p>
          <a:p>
            <a:r>
              <a:rPr lang="de-DE" dirty="0"/>
              <a:t>Das alte Modell hat eine zu niedrige Risikoprämie verlangt und Risikofaktoren zu uneindeutig bewertet</a:t>
            </a:r>
          </a:p>
          <a:p>
            <a:endParaRPr lang="de-DE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64A46A1B-4302-F288-1533-A5717AD00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368787"/>
              </p:ext>
            </p:extLst>
          </p:nvPr>
        </p:nvGraphicFramePr>
        <p:xfrm>
          <a:off x="2318664" y="4295124"/>
          <a:ext cx="7554671" cy="1691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83274" imgH="937071" progId="Excel.Sheet.12">
                  <p:embed/>
                </p:oleObj>
              </mc:Choice>
              <mc:Fallback>
                <p:oleObj name="Worksheet" r:id="rId2" imgW="4183274" imgH="93707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18664" y="4295124"/>
                        <a:ext cx="7554671" cy="1691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D15CC8-7E7E-719D-BE0B-7E0CD450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850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Breitbild</PresentationFormat>
  <Paragraphs>157</Paragraphs>
  <Slides>21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9" baseType="lpstr">
      <vt:lpstr>Aptos</vt:lpstr>
      <vt:lpstr>Aptos Narrow</vt:lpstr>
      <vt:lpstr>Arial</vt:lpstr>
      <vt:lpstr>Bierstadt</vt:lpstr>
      <vt:lpstr>Cambria Math</vt:lpstr>
      <vt:lpstr>Neue Haas Grotesk Text Pro</vt:lpstr>
      <vt:lpstr>GestaltVTI</vt:lpstr>
      <vt:lpstr>Microsoft Excel-Arbeitsblatt</vt:lpstr>
      <vt:lpstr>Kredite</vt:lpstr>
      <vt:lpstr>Die zwei großen Fragen</vt:lpstr>
      <vt:lpstr>Datensatz Beschreibung (32 581 Kredite)</vt:lpstr>
      <vt:lpstr>Probleme in den Daten</vt:lpstr>
      <vt:lpstr>Feature Engineering</vt:lpstr>
      <vt:lpstr>Ist der momentane Risiko Bewertungsprozess ineffizient?</vt:lpstr>
      <vt:lpstr>Pearson Korrelationskoeffizient</vt:lpstr>
      <vt:lpstr>Ist der momentane Risiko Bewertungsprozess ineffizient?</vt:lpstr>
      <vt:lpstr>Ein neues Modell entwickeln</vt:lpstr>
      <vt:lpstr>Problem: Einheiten</vt:lpstr>
      <vt:lpstr>Lösung: Standardisierung</vt:lpstr>
      <vt:lpstr>Linkssteile Verteilungen</vt:lpstr>
      <vt:lpstr>Sechs gleich große Kategorien</vt:lpstr>
      <vt:lpstr>Modellvergleich</vt:lpstr>
      <vt:lpstr>Modellvergleich</vt:lpstr>
      <vt:lpstr>Minimaler Zinssatz</vt:lpstr>
      <vt:lpstr>Minimaler Zinssatz</vt:lpstr>
      <vt:lpstr>Fatales Kreditausfallrisiko</vt:lpstr>
      <vt:lpstr>Neues Modell Zinsrate pro Kategorie</vt:lpstr>
      <vt:lpstr>Gewinnvergleich Neues Modell mit neuer Zinsrechnung vs Altes Modell</vt:lpstr>
      <vt:lpstr>Gewinnvergleich Neues Modell mit Neuer Zinsrechnung vs Altes Modell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Stank</dc:creator>
  <cp:lastModifiedBy>Jacob Stank</cp:lastModifiedBy>
  <cp:revision>5</cp:revision>
  <dcterms:created xsi:type="dcterms:W3CDTF">2026-02-02T08:09:23Z</dcterms:created>
  <dcterms:modified xsi:type="dcterms:W3CDTF">2026-02-03T15:38:20Z</dcterms:modified>
</cp:coreProperties>
</file>